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Agent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Sharpe</c:v>
                  </c:pt>
                  <c:pt idx="1">
                    <c:v>Max DD%</c:v>
                  </c:pt>
                  <c:pt idx="2">
                    <c:v>Win Rate%</c:v>
                  </c:pt>
                  <c:pt idx="3">
                    <c:v>Monthly Return%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18</c:v>
                </c:pt>
                <c:pt idx="2">
                  <c:v>52</c:v>
                </c:pt>
                <c:pt idx="3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(Static)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Sharpe</c:v>
                  </c:pt>
                  <c:pt idx="1">
                    <c:v>Max DD%</c:v>
                  </c:pt>
                  <c:pt idx="2">
                    <c:v>Win Rate%</c:v>
                  </c:pt>
                  <c:pt idx="3">
                    <c:v>Monthly Return%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</c:v>
                </c:pt>
                <c:pt idx="1">
                  <c:v>12</c:v>
                </c:pt>
                <c:pt idx="2">
                  <c:v>58</c:v>
                </c:pt>
                <c:pt idx="3">
                  <c:v>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Multi-Agent + Self-Evolve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Sharpe</c:v>
                  </c:pt>
                  <c:pt idx="1">
                    <c:v>Max DD%</c:v>
                  </c:pt>
                  <c:pt idx="2">
                    <c:v>Win Rate%</c:v>
                  </c:pt>
                  <c:pt idx="3">
                    <c:v>Monthly Return%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</c:v>
                </c:pt>
                <c:pt idx="1">
                  <c:v>7</c:v>
                </c:pt>
                <c:pt idx="2">
                  <c:v>64</c:v>
                </c:pt>
                <c:pt idx="3">
                  <c:v>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C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00D4A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9144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6304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914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Self-Evolving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Trading System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Intelligence That Learns, Adapts, and Trades Autonomously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Why Single-Model Trading Fails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Overview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057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Roles: Analyst, Strategist, Executor, Risk Manager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60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Communication Protocol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1752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Mechanisms: Genetic Algorithms &amp; RL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7472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1732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&amp; Strategy Mutation</a:t>
            </a:r>
            <a:endParaRPr lang="en-US" sz="14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31920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417320" y="3886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 &amp; Guardrails</a:t>
            </a:r>
            <a:endParaRPr lang="en-US" sz="14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89120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41732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Results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606040" cy="146304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algo traders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within 1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097280"/>
            <a:ext cx="2606040" cy="146304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3mo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strategy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606040" cy="146304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never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26080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strategies degrade as market regimes shift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cannot keep pace with volatility changes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 — analysis, execution, risk tangled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to historical data leads to live-trading failure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194560" cy="1188720"/>
          </a:xfrm>
          <a:prstGeom prst="ellipse">
            <a:avLst/>
          </a:prstGeom>
          <a:solidFill>
            <a:srgbClr val="00D4AA">
              <a:alpha val="20000"/>
            </a:srgbClr>
          </a:solidFill>
          <a:ln w="254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148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1188720"/>
            <a:ext cx="1828800" cy="1097280"/>
          </a:xfrm>
          <a:prstGeom prst="rectangle">
            <a:avLst/>
          </a:prstGeom>
          <a:solidFill>
            <a:srgbClr val="131C33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83680" y="1188720"/>
            <a:ext cx="1828800" cy="1097280"/>
          </a:xfrm>
          <a:prstGeom prst="rectangle">
            <a:avLst/>
          </a:prstGeom>
          <a:solidFill>
            <a:srgbClr val="131C33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3200400"/>
            <a:ext cx="1828800" cy="1097280"/>
          </a:xfrm>
          <a:prstGeom prst="rectangle">
            <a:avLst/>
          </a:prstGeom>
          <a:solidFill>
            <a:srgbClr val="131C33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375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583680" y="3200400"/>
            <a:ext cx="1828800" cy="1097280"/>
          </a:xfrm>
          <a:prstGeom prst="rectangle">
            <a:avLst/>
          </a:prstGeom>
          <a:solidFill>
            <a:srgbClr val="131C33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3375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0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Executor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2560320" y="1737360"/>
            <a:ext cx="91440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6583680" y="1737360"/>
            <a:ext cx="-91440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2560320" y="3749040"/>
            <a:ext cx="914400" cy="-8229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6583680" y="3749040"/>
            <a:ext cx="-914400" cy="-8229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6" name="Text 1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operates independently with specialized knowledge, communicating via a shared message bus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Roles Deep Dive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645920"/>
          </a:xfrm>
          <a:prstGeom prst="rectangle">
            <a:avLst/>
          </a:prstGeom>
          <a:solidFill>
            <a:srgbClr val="131C33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645920"/>
          </a:xfrm>
          <a:prstGeom prst="rectangle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Analyst Agent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real-time feeds, news sentiment, order book data. Detects regime changes (trending, mean-reverting, volatile).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angle">
            <a:avLst/>
          </a:prstGeom>
          <a:solidFill>
            <a:srgbClr val="131C33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97280"/>
            <a:ext cx="54864" cy="1645920"/>
          </a:xfrm>
          <a:prstGeom prst="rectangle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Engine Agent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8348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portfolio of strategies. Selects &amp; weights strategies based on current regime. Generates trade signals.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3931920" cy="1645920"/>
          </a:xfrm>
          <a:prstGeom prst="rectangle">
            <a:avLst/>
          </a:prstGeom>
          <a:solidFill>
            <a:srgbClr val="131C33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17520"/>
            <a:ext cx="54864" cy="1645920"/>
          </a:xfrm>
          <a:prstGeom prst="rectangle">
            <a:avLst/>
          </a:prstGeom>
          <a:solidFill>
            <a:srgbClr val="00D4A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Manager Agent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8580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position limits, drawdown thresholds, correlation checks. Can veto or scale down trades in real-time.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017520"/>
            <a:ext cx="3931920" cy="1645920"/>
          </a:xfrm>
          <a:prstGeom prst="rectangle">
            <a:avLst/>
          </a:prstGeom>
          <a:solidFill>
            <a:srgbClr val="131C33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017520"/>
            <a:ext cx="54864" cy="1645920"/>
          </a:xfrm>
          <a:prstGeom prst="rectangle">
            <a:avLst/>
          </a:prstGeom>
          <a:solidFill>
            <a:srgbClr val="3B82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04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Executor Agent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8348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order routing, slippage optimization, smart order splitting. Monitors fill rates and execution quality.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Inter-Agent Communication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548640"/>
          </a:xfrm>
          <a:prstGeom prst="rectangle">
            <a:avLst/>
          </a:prstGeom>
          <a:solidFill>
            <a:srgbClr val="00D4AA">
              <a:alpha val="15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MESSAGE BUS  (Pub/Sub + Priority Queue)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920240" cy="182880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1920240" cy="54864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Signal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Regime: TRENDING_UP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Volatility: 0.23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 +0.67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201168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651760" y="2468880"/>
            <a:ext cx="1920240" cy="182880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2468880"/>
            <a:ext cx="1920240" cy="54864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Proposal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ETH/USD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Size: 2.5 lots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0.82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201168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846320" y="2468880"/>
            <a:ext cx="1920240" cy="182880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68880"/>
            <a:ext cx="1920240" cy="54864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APPROVED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Loss: $5,000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Correlation: 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201168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040880" y="2468880"/>
            <a:ext cx="1920240" cy="182880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2468880"/>
            <a:ext cx="1920240" cy="54864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Filled @ $3,245.50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Slippage: 0.02%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Latency: 12ms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01000" y="201168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message passing enables agents to operate at different frequencies without blocking each other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Self-Evolving Mechanism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554480" cy="137160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4592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40280" y="1188720"/>
            <a:ext cx="1554480" cy="137160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2801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4028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Score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645920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023360" y="1188720"/>
            <a:ext cx="1554480" cy="137160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28016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2336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Fittest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645920"/>
            <a:ext cx="182880" cy="182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806440" y="1188720"/>
            <a:ext cx="1554480" cy="137160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280160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80644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Mutate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Crossover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645920"/>
            <a:ext cx="182880" cy="1828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589520" y="1188720"/>
            <a:ext cx="1554480" cy="137160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1280160"/>
            <a:ext cx="411480" cy="4114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58952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457200" y="2926080"/>
            <a:ext cx="3840480" cy="192024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16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Algorithm</a:t>
            </a:r>
            <a:endParaRPr lang="en-US" sz="1400" dirty="0"/>
          </a:p>
        </p:txBody>
      </p:sp>
      <p:sp>
        <p:nvSpPr>
          <p:cNvPr id="28" name="Text 17"/>
          <p:cNvSpPr/>
          <p:nvPr/>
        </p:nvSpPr>
        <p:spPr>
          <a:xfrm>
            <a:off x="640080" y="34290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strategy parameters as chromosomes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Sharpe ratio + max drawdown penalty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selection preserves diversity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rate adapts to convergence speed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4846320" y="2926080"/>
            <a:ext cx="3840480" cy="192024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19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5029200" y="34290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learns position sizing 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market features + portfolio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risk-adjusted returns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with experience replay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Learning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640080"/>
          </a:xfrm>
          <a:prstGeom prst="rectangle">
            <a:avLst/>
          </a:prstGeom>
          <a:solidFill>
            <a:srgbClr val="131C3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64008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Data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data, news, social signals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114800" cy="640080"/>
          </a:xfrm>
          <a:prstGeom prst="rectangle">
            <a:avLst/>
          </a:prstGeom>
          <a:solidFill>
            <a:srgbClr val="131C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11680"/>
            <a:ext cx="54864" cy="64008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Auto-derived technical &amp; sentiment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114800" cy="640080"/>
          </a:xfrm>
          <a:prstGeom prst="rectangle">
            <a:avLst/>
          </a:prstGeom>
          <a:solidFill>
            <a:srgbClr val="131C33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64008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Strategy Evolution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generates new strategy candidates hourly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114800" cy="640080"/>
          </a:xfrm>
          <a:prstGeom prst="rectangle">
            <a:avLst/>
          </a:prstGeom>
          <a:solidFill>
            <a:srgbClr val="131C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" cy="64008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Shadow Trading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Paper-trade new strategies alongside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114800" cy="640080"/>
          </a:xfrm>
          <a:prstGeom prst="rectangle">
            <a:avLst/>
          </a:prstGeom>
          <a:solidFill>
            <a:srgbClr val="131C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480560"/>
            <a:ext cx="54864" cy="64008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Promotion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promoted after statistical validation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1188720"/>
            <a:ext cx="3657600" cy="393192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Metrics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2,400+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30352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Generated / Day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days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Strategy Lifespan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0352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4 hours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303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Latency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Mutation &amp; Crossover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164592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Strategy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 Crossover (20/50)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RSI Filter &gt;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 Stop: 2.0x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Sharpe: 1.42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645920"/>
          </a:xfrm>
          <a:prstGeom prst="rectangle">
            <a:avLst/>
          </a:prstGeom>
          <a:solidFill>
            <a:srgbClr val="131C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Strategy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Bollinger Breakout (2.0σ)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Confirm &gt; 1.5x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 Stop: 1.5x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Sharpe: 1.28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274320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28800" y="3474720"/>
            <a:ext cx="5486400" cy="1371600"/>
          </a:xfrm>
          <a:prstGeom prst="rectangle">
            <a:avLst/>
          </a:prstGeom>
          <a:solidFill>
            <a:srgbClr val="131C33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01168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Offspring (Crossover + Mutation)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3977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 Crossover (20/50)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Confirm &gt; 1.5x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 Stop: 2.3x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mutated (was 2.0x)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Control &amp; Guardrails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347472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4864"/>
          </a:xfrm>
          <a:prstGeom prst="rectangle">
            <a:avLst/>
          </a:prstGeom>
          <a:solidFill>
            <a:srgbClr val="00D4A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1: Per-Trade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position size: 2% of capital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mandatory on every order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threshold: auto-cancel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2697480" cy="347472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97280"/>
            <a:ext cx="2697480" cy="54864"/>
          </a:xfrm>
          <a:prstGeom prst="rectangle">
            <a:avLst/>
          </a:prstGeom>
          <a:solidFill>
            <a:srgbClr val="3B82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258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2: Portfolio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correlation: 0.6 between positions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exposure caps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drawdown limit: 3%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1097280"/>
            <a:ext cx="2697480" cy="347472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097280"/>
            <a:ext cx="2697480" cy="54864"/>
          </a:xfrm>
          <a:prstGeom prst="rectangle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3: System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on anomaly detection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diversity minimum enforced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for unusual events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 Agent has VETO power over all trade proposals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097280"/>
            <a:ext cx="2926080" cy="3474720"/>
          </a:xfrm>
          <a:prstGeom prst="rectangle">
            <a:avLst/>
          </a:prstGeom>
          <a:solidFill>
            <a:srgbClr val="131C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Improvements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2.6x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26480" y="2084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Sharpe Ratio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26480" y="2441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2743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Max Drawdown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2648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Monthly Returns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3758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0" y="40599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Longevity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on 3 years of crypto + forex data across multiple market regimes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972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60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 Trading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Autonomous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+ Self-Evolution = Adaptive Alpha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Self-Evolving Trading System</dc:title>
  <dc:subject>PptxGenJS Presentation</dc:subject>
  <dc:creator>AI Trading Systems</dc:creator>
  <cp:lastModifiedBy>AI Trading Systems</cp:lastModifiedBy>
  <cp:revision>1</cp:revision>
  <dcterms:created xsi:type="dcterms:W3CDTF">2026-03-22T17:24:44Z</dcterms:created>
  <dcterms:modified xsi:type="dcterms:W3CDTF">2026-03-22T17:24:44Z</dcterms:modified>
</cp:coreProperties>
</file>